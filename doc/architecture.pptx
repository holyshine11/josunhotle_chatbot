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43"/>
    <p:restoredTop sz="96949"/>
  </p:normalViewPr>
  <p:slideViewPr>
    <p:cSldViewPr snapToGrid="0" snapToObjects="1">
      <p:cViewPr varScale="1">
        <p:scale>
          <a:sx n="138" d="100"/>
          <a:sy n="138" d="100"/>
        </p:scale>
        <p:origin x="3848" y="4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242388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호텔 FAQ RAG 챗봇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22996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0">
                <a:solidFill>
                  <a:srgbClr val="C9A961"/>
                </a:solidFill>
              </a:defRPr>
            </a:pPr>
            <a:r>
              <a:t>시스템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77476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FFFFF"/>
                </a:solidFill>
              </a:defRPr>
            </a:pPr>
            <a:r>
              <a:t>조선호텔 브랜드 5개 호텔 FAQ 기반 근거 중심 RAG 챗봇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0F0F0"/>
                </a:solidFill>
              </a:defRPr>
            </a:pPr>
            <a:r>
              <a:t>2026.02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폴더 구조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188720"/>
            <a:ext cx="1828800" cy="640080"/>
          </a:xfrm>
          <a:prstGeom prst="round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crawler/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325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23232"/>
                </a:solidFill>
              </a:defRPr>
            </a:pPr>
            <a:r>
              <a:t>호텔별 FAQ 크롤러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94560"/>
            <a:ext cx="1828800" cy="640080"/>
          </a:xfrm>
          <a:prstGeom prst="round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pipeline/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2331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23232"/>
                </a:solidFill>
              </a:defRPr>
            </a:pPr>
            <a:r>
              <a:t>데이터 정제/청킹/인덱싱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200400"/>
            <a:ext cx="1828800" cy="640080"/>
          </a:xfrm>
          <a:prstGeom prst="round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rag/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3337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23232"/>
                </a:solidFill>
              </a:defRPr>
            </a:pPr>
            <a:r>
              <a:t>LangGraph RAG 서버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206240"/>
            <a:ext cx="1828800" cy="640080"/>
          </a:xfrm>
          <a:prstGeom prst="round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policies/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4343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23232"/>
                </a:solidFill>
              </a:defRPr>
            </a:pPr>
            <a:r>
              <a:t>정책 파일 및 필터 로직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212080"/>
            <a:ext cx="1828800" cy="640080"/>
          </a:xfrm>
          <a:prstGeom prst="round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tests/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5349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23232"/>
                </a:solidFill>
              </a:defRPr>
            </a:pPr>
            <a:r>
              <a:t>테스트 및 평가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188720"/>
            <a:ext cx="1828800" cy="640080"/>
          </a:xfrm>
          <a:prstGeom prst="round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monitor/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1325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23232"/>
                </a:solidFill>
              </a:defRPr>
            </a:pPr>
            <a:r>
              <a:t>모니터링 대시보드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2194560"/>
            <a:ext cx="1828800" cy="640080"/>
          </a:xfrm>
          <a:prstGeom prst="round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ui/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331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23232"/>
                </a:solidFill>
              </a:defRPr>
            </a:pPr>
            <a:r>
              <a:t>웹 UI (HTML/CSS/JS)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3200400"/>
            <a:ext cx="1828800" cy="640080"/>
          </a:xfrm>
          <a:prstGeom prst="round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data/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3337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23232"/>
                </a:solidFill>
              </a:defRPr>
            </a:pPr>
            <a:r>
              <a:t>데이터 저장소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4206240"/>
            <a:ext cx="1828800" cy="640080"/>
          </a:xfrm>
          <a:prstGeom prst="round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doc/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4343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23232"/>
                </a:solidFill>
              </a:defRPr>
            </a:pPr>
            <a:r>
              <a:t>프로젝트 문서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전체 아키텍처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20079" y="1739349"/>
            <a:ext cx="1828800" cy="1097280"/>
          </a:xfrm>
          <a:prstGeom prst="round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Crawler</a:t>
            </a:r>
            <a:br/>
            <a:r>
              <a:t>(수집)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06079" y="1739349"/>
            <a:ext cx="1828800" cy="1097280"/>
          </a:xfrm>
          <a:prstGeom prst="round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Pipeline</a:t>
            </a:r>
            <a:br/>
            <a:r>
              <a:t>(정제)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2079" y="1739349"/>
            <a:ext cx="1828800" cy="1097280"/>
          </a:xfrm>
          <a:prstGeom prst="round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Indexer</a:t>
            </a:r>
            <a:br/>
            <a:r>
              <a:t>(인덱싱)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78079" y="1739349"/>
            <a:ext cx="1828800" cy="1097280"/>
          </a:xfrm>
          <a:prstGeom prst="roundRect">
            <a:avLst/>
          </a:prstGeom>
          <a:solidFill>
            <a:srgbClr val="C9A961"/>
          </a:solidFill>
          <a:ln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RAG API</a:t>
            </a:r>
            <a:br/>
            <a:r>
              <a:t>(서빙)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78079" y="3476709"/>
            <a:ext cx="1828800" cy="1097280"/>
          </a:xfrm>
          <a:prstGeom prst="roundRect">
            <a:avLst/>
          </a:prstGeom>
          <a:solidFill>
            <a:srgbClr val="C9A961"/>
          </a:solidFill>
          <a:ln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UI</a:t>
            </a:r>
            <a:br/>
            <a:r>
              <a:t>(웹 채팅)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0319" y="210510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C9A961"/>
                </a:solidFill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26319" y="210510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C9A961"/>
                </a:solidFill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2319" y="210510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C9A961"/>
                </a:solidFill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09599" y="292806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C9A961"/>
                </a:solidFill>
              </a:defRPr>
            </a:pPr>
            <a: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486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23232"/>
                </a:solidFill>
              </a:defRPr>
            </a:pPr>
            <a:r>
              <a:t>• Crawler: 호텔별 FAQ/공지 크롤링 (조선 팰리스, 그랜드 조선 부산/제주, 레스케이프, 그래비티 판교)</a:t>
            </a:r>
            <a:br/>
            <a:r>
              <a:t>• Pipeline: HTML 정제, 노이즈 제거, 300~600 토큰 단위 청킹</a:t>
            </a:r>
            <a:br/>
            <a:r>
              <a:t>• Indexer: Chroma Vector DB + BM25 하이브리드 인덱싱</a:t>
            </a:r>
            <a:br/>
            <a:r>
              <a:t>• RAG API: LangGraph 기반 7개 노드 처리 플로우</a:t>
            </a:r>
            <a:br/>
            <a:r>
              <a:t>• UI: 다크모드 지원 프리미엄 웹 채팅 인터페이스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RAG 플로우 (7개 노드)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188720"/>
            <a:ext cx="3200400" cy="548640"/>
          </a:xfrm>
          <a:prstGeom prst="round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1. queryRewriteNode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23232"/>
                </a:solidFill>
              </a:defRPr>
            </a:pPr>
            <a:r>
              <a:t>대화 맥락 반영 쿼리 재작성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6916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C9A961"/>
                </a:solidFill>
              </a:defRPr>
            </a:pPr>
            <a:r>
              <a:t>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74519"/>
            <a:ext cx="3200400" cy="548640"/>
          </a:xfrm>
          <a:prstGeom prst="round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2. preprocessNode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9659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23232"/>
                </a:solidFill>
              </a:defRPr>
            </a:pPr>
            <a:r>
              <a:t>입력 정규화, 언어/호텔/카테고리 감지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37743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C9A961"/>
                </a:solidFill>
              </a:defRPr>
            </a:pPr>
            <a: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560320"/>
            <a:ext cx="3200400" cy="548640"/>
          </a:xfrm>
          <a:prstGeom prst="round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3. retrieveNode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651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23232"/>
                </a:solidFill>
              </a:defRPr>
            </a:pPr>
            <a:r>
              <a:t>Vector + BM25 하이브리드 검색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06323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C9A961"/>
                </a:solidFill>
              </a:defRPr>
            </a:pPr>
            <a: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246120"/>
            <a:ext cx="3200400" cy="548640"/>
          </a:xfrm>
          <a:prstGeom prst="round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4. evidenceGateNode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3375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23232"/>
                </a:solidFill>
              </a:defRPr>
            </a:pPr>
            <a:r>
              <a:t>근거 검증 (품질 확인)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74903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C9A961"/>
                </a:solidFill>
              </a:defRPr>
            </a:pPr>
            <a: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931920"/>
            <a:ext cx="3200400" cy="548640"/>
          </a:xfrm>
          <a:prstGeom prst="round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5. answerComposeNode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02335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23232"/>
                </a:solidFill>
              </a:defRPr>
            </a:pPr>
            <a:r>
              <a:t>LLM 답변 생성 (Ollama)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4348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C9A961"/>
                </a:solidFill>
              </a:defRPr>
            </a:pPr>
            <a: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617720"/>
            <a:ext cx="3200400" cy="548640"/>
          </a:xfrm>
          <a:prstGeom prst="round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6. answerVerifyNode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70915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23232"/>
                </a:solidFill>
              </a:defRPr>
            </a:pPr>
            <a:r>
              <a:t>할루시네이션 검증 + 카테고리 오염 검사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51206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C9A961"/>
                </a:solidFill>
              </a:defRPr>
            </a:pPr>
            <a: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303520"/>
            <a:ext cx="3200400" cy="548640"/>
          </a:xfrm>
          <a:prstGeom prst="round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dirty="0"/>
              <a:t>7. </a:t>
            </a:r>
            <a:r>
              <a:rPr dirty="0" err="1"/>
              <a:t>policyFilterNode</a:t>
            </a:r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4572000" y="539495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23232"/>
                </a:solidFill>
              </a:defRPr>
            </a:pPr>
            <a:r>
              <a:t>금지 주제/개인정보 필터링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365D"/>
                </a:solidFill>
              </a:defRPr>
            </a:pPr>
            <a:r>
              <a:t>핵심 클래스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18288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23232"/>
                </a:solidFill>
              </a:defRPr>
            </a:pPr>
            <a:r>
              <a:t>• RAGState: 그래프 상태 정의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22860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23232"/>
                </a:solidFill>
              </a:defRPr>
            </a:pPr>
            <a:r>
              <a:t>• RAGGraph: 메인 RAG 그래프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27432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23232"/>
                </a:solidFill>
              </a:defRPr>
            </a:pPr>
            <a:r>
              <a:t>• GroundingGate: 문장 단위 근거 검증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2004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23232"/>
                </a:solidFill>
              </a:defRPr>
            </a:pPr>
            <a:r>
              <a:t>• CategoryConsistencyChecker: 카테고리 교차 오염 감지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기술 스택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2286000" cy="502920"/>
          </a:xfrm>
          <a:prstGeom prst="round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Vector DB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1371600"/>
            <a:ext cx="3657600" cy="502920"/>
          </a:xfrm>
          <a:prstGeom prst="roundRect">
            <a:avLst/>
          </a:prstGeom>
          <a:solidFill>
            <a:srgbClr val="C9A961"/>
          </a:solidFill>
          <a:ln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323232"/>
                </a:solidFill>
              </a:defRPr>
            </a:pPr>
            <a:r>
              <a:t>Chroma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2286000" cy="502920"/>
          </a:xfrm>
          <a:prstGeom prst="round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검색 방식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2011680"/>
            <a:ext cx="3657600" cy="502920"/>
          </a:xfrm>
          <a:prstGeom prst="roundRect">
            <a:avLst/>
          </a:prstGeom>
          <a:solidFill>
            <a:srgbClr val="C9A961"/>
          </a:solidFill>
          <a:ln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323232"/>
                </a:solidFill>
              </a:defRPr>
            </a:pPr>
            <a:r>
              <a:rPr dirty="0" err="1"/>
              <a:t>하이브리드</a:t>
            </a:r>
            <a:r>
              <a:rPr dirty="0"/>
              <a:t> (Vector 70% + </a:t>
            </a:r>
            <a:r>
              <a:rPr dirty="0" err="1"/>
              <a:t>BM25</a:t>
            </a:r>
            <a:r>
              <a:rPr dirty="0"/>
              <a:t> 30%)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51760"/>
            <a:ext cx="2286000" cy="502920"/>
          </a:xfrm>
          <a:prstGeom prst="round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LLM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651760"/>
            <a:ext cx="3657600" cy="502920"/>
          </a:xfrm>
          <a:prstGeom prst="roundRect">
            <a:avLst/>
          </a:prstGeom>
          <a:solidFill>
            <a:srgbClr val="C9A961"/>
          </a:solidFill>
          <a:ln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323232"/>
                </a:solidFill>
              </a:defRPr>
            </a:pPr>
            <a:r>
              <a:t>Ollama (qwen2.5:7b)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291839"/>
            <a:ext cx="2286000" cy="502920"/>
          </a:xfrm>
          <a:prstGeom prst="round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프레임워크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3291839"/>
            <a:ext cx="3657600" cy="502920"/>
          </a:xfrm>
          <a:prstGeom prst="roundRect">
            <a:avLst/>
          </a:prstGeom>
          <a:solidFill>
            <a:srgbClr val="C9A961"/>
          </a:solidFill>
          <a:ln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323232"/>
                </a:solidFill>
              </a:defRPr>
            </a:pPr>
            <a:r>
              <a:t>LangGraph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931920"/>
            <a:ext cx="2286000" cy="502920"/>
          </a:xfrm>
          <a:prstGeom prst="round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Embedding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3931920"/>
            <a:ext cx="3657600" cy="502920"/>
          </a:xfrm>
          <a:prstGeom prst="roundRect">
            <a:avLst/>
          </a:prstGeom>
          <a:solidFill>
            <a:srgbClr val="C9A961"/>
          </a:solidFill>
          <a:ln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323232"/>
                </a:solidFill>
              </a:defRPr>
            </a:pPr>
            <a:r>
              <a:rPr dirty="0" err="1"/>
              <a:t>intfloat</a:t>
            </a:r>
            <a:r>
              <a:rPr dirty="0"/>
              <a:t>/multilingual-</a:t>
            </a:r>
            <a:r>
              <a:rPr dirty="0" err="1"/>
              <a:t>e5</a:t>
            </a:r>
            <a:r>
              <a:rPr dirty="0"/>
              <a:t>-small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572000"/>
            <a:ext cx="2286000" cy="502920"/>
          </a:xfrm>
          <a:prstGeom prst="round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API 서버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4572000"/>
            <a:ext cx="3657600" cy="502920"/>
          </a:xfrm>
          <a:prstGeom prst="roundRect">
            <a:avLst/>
          </a:prstGeom>
          <a:solidFill>
            <a:srgbClr val="C9A961"/>
          </a:solidFill>
          <a:ln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323232"/>
                </a:solidFill>
              </a:defRPr>
            </a:pPr>
            <a:r>
              <a:t>FastAPI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212079"/>
            <a:ext cx="2286000" cy="502920"/>
          </a:xfrm>
          <a:prstGeom prst="round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언어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5212079"/>
            <a:ext cx="3657600" cy="502920"/>
          </a:xfrm>
          <a:prstGeom prst="roundRect">
            <a:avLst/>
          </a:prstGeom>
          <a:solidFill>
            <a:srgbClr val="C9A961"/>
          </a:solidFill>
          <a:ln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323232"/>
                </a:solidFill>
              </a:defRPr>
            </a:pPr>
            <a:r>
              <a:t>Python 3.11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A365D"/>
                </a:solidFill>
              </a:defRPr>
            </a:pPr>
            <a:r>
              <a:t>데이터 현황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01168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23232"/>
                </a:solidFill>
              </a:defRPr>
            </a:pPr>
            <a:r>
              <a:t>• 총 청크: 373개 (기본 359 + 보충 14)</a:t>
            </a:r>
            <a:br/>
            <a:r>
              <a:t>• 호텔 수: 5개</a:t>
            </a:r>
            <a:br/>
            <a:r>
              <a:t>  - 조선 팰리스</a:t>
            </a:r>
            <a:br/>
            <a:r>
              <a:t>  - 그랜드 조선 부산</a:t>
            </a:r>
            <a:br/>
            <a:r>
              <a:t>  - 그랜드 조선 제주</a:t>
            </a:r>
            <a:br/>
            <a:r>
              <a:t>  - 레스케이프</a:t>
            </a:r>
            <a:br/>
            <a:r>
              <a:t>  - 그래비티 판교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핵심 정책 원칙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00400" cy="1097280"/>
          </a:xfrm>
          <a:prstGeom prst="round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No Retrieval,</a:t>
            </a:r>
            <a:br/>
            <a:r>
              <a:t>No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근거 없는 답변 금지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200400" cy="1097280"/>
          </a:xfrm>
          <a:prstGeom prst="round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추정/일반론</a:t>
            </a:r>
            <a:br/>
            <a:r>
              <a:t>금지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5603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"약", "대략", "아마" 사용 금지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71600"/>
            <a:ext cx="3200400" cy="1097280"/>
          </a:xfrm>
          <a:prstGeom prst="roundRect">
            <a:avLst/>
          </a:prstGeom>
          <a:solidFill>
            <a:srgbClr val="C9A961"/>
          </a:solidFill>
          <a:ln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출처 URL</a:t>
            </a:r>
            <a:br/>
            <a:r>
              <a:t>필수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5603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모든 답변에 참고 URL 포함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3200400" cy="1097280"/>
          </a:xfrm>
          <a:prstGeom prst="roundRect">
            <a:avLst/>
          </a:prstGeom>
          <a:solidFill>
            <a:srgbClr val="C9A961"/>
          </a:solidFill>
          <a:ln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개인정보</a:t>
            </a:r>
            <a:br/>
            <a:r>
              <a:t>요구 금지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예약번호, 카드번호 등 요청 안 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657600"/>
            <a:ext cx="3200400" cy="1097280"/>
          </a:xfrm>
          <a:prstGeom prst="round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근거 부족 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48463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"확인이 어렵습니다" + 공식 채널 안내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테스트 및 모니터링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A365D"/>
                </a:solidFill>
              </a:defRPr>
            </a:pPr>
            <a:r>
              <a:t>자동 평가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23232"/>
                </a:solidFill>
              </a:defRPr>
            </a:pPr>
            <a:r>
              <a:rPr dirty="0"/>
              <a:t>• </a:t>
            </a:r>
            <a:r>
              <a:rPr dirty="0" err="1"/>
              <a:t>evaluate.py</a:t>
            </a:r>
            <a:r>
              <a:rPr dirty="0"/>
              <a:t>: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평가</a:t>
            </a:r>
            <a:r>
              <a:rPr dirty="0"/>
              <a:t> </a:t>
            </a:r>
            <a:r>
              <a:rPr dirty="0" err="1"/>
              <a:t>스크립트</a:t>
            </a:r>
            <a:r>
              <a:rPr dirty="0"/>
              <a:t> (</a:t>
            </a:r>
            <a:r>
              <a:rPr dirty="0" err="1"/>
              <a:t>정확도</a:t>
            </a:r>
            <a:r>
              <a:rPr dirty="0"/>
              <a:t> </a:t>
            </a:r>
            <a:r>
              <a:rPr dirty="0" err="1"/>
              <a:t>측정</a:t>
            </a:r>
            <a:r>
              <a:rPr dirty="0"/>
              <a:t>)</a:t>
            </a:r>
            <a:br>
              <a:rPr dirty="0"/>
            </a:br>
            <a:r>
              <a:rPr dirty="0"/>
              <a:t>• </a:t>
            </a:r>
            <a:r>
              <a:rPr dirty="0" err="1"/>
              <a:t>golden_qa.json</a:t>
            </a:r>
            <a:r>
              <a:rPr dirty="0"/>
              <a:t>: </a:t>
            </a:r>
            <a:r>
              <a:rPr dirty="0" err="1"/>
              <a:t>48개</a:t>
            </a:r>
            <a:r>
              <a:rPr dirty="0"/>
              <a:t> </a:t>
            </a:r>
            <a:r>
              <a:rPr dirty="0" err="1"/>
              <a:t>골든</a:t>
            </a:r>
            <a:r>
              <a:rPr dirty="0"/>
              <a:t> </a:t>
            </a:r>
            <a:r>
              <a:rPr dirty="0" err="1"/>
              <a:t>테스트</a:t>
            </a:r>
            <a:r>
              <a:rPr dirty="0"/>
              <a:t> </a:t>
            </a:r>
            <a:r>
              <a:rPr dirty="0" err="1"/>
              <a:t>케이스</a:t>
            </a:r>
            <a:br>
              <a:rPr dirty="0"/>
            </a:br>
            <a:r>
              <a:rPr dirty="0"/>
              <a:t>• </a:t>
            </a:r>
            <a:r>
              <a:rPr dirty="0" err="1"/>
              <a:t>test_grounding.py</a:t>
            </a:r>
            <a:r>
              <a:rPr dirty="0"/>
              <a:t>: Grounding Gate </a:t>
            </a:r>
            <a:r>
              <a:rPr dirty="0" err="1"/>
              <a:t>단위</a:t>
            </a:r>
            <a:r>
              <a:rPr dirty="0"/>
              <a:t> </a:t>
            </a:r>
            <a:r>
              <a:rPr dirty="0" err="1"/>
              <a:t>테스트</a:t>
            </a:r>
            <a:br>
              <a:rPr dirty="0"/>
            </a:br>
            <a:br>
              <a:rPr dirty="0"/>
            </a:br>
            <a:r>
              <a:rPr dirty="0" err="1"/>
              <a:t>현재</a:t>
            </a:r>
            <a:r>
              <a:rPr dirty="0"/>
              <a:t> </a:t>
            </a:r>
            <a:r>
              <a:rPr dirty="0" err="1"/>
              <a:t>정확도</a:t>
            </a:r>
            <a:r>
              <a:rPr dirty="0"/>
              <a:t>: 100% (48/48 </a:t>
            </a:r>
            <a:r>
              <a:rPr dirty="0" err="1"/>
              <a:t>통과</a:t>
            </a:r>
            <a:r>
              <a:rPr dirty="0"/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A365D"/>
                </a:solidFill>
              </a:defRPr>
            </a:pPr>
            <a:r>
              <a:t>모니터링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23232"/>
                </a:solidFill>
              </a:defRPr>
            </a:pPr>
            <a:r>
              <a:t>• dashboard.py: CLI 대시보드</a:t>
            </a:r>
            <a:br/>
            <a:r>
              <a:t>• analyzer.py: 로그 분석기</a:t>
            </a:r>
            <a:br/>
            <a:r>
              <a:t>• collector.py: 실패 케이스 수집기</a:t>
            </a:r>
            <a:br/>
            <a:br/>
            <a:r>
              <a:t>로그 위치: data/logs/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365D"/>
                </a:solidFill>
              </a:defRPr>
            </a:pPr>
            <a:r>
              <a:t>자주 사용하는 명령어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754880"/>
            <a:ext cx="10058400" cy="1645920"/>
          </a:xfrm>
          <a:prstGeom prst="rect">
            <a:avLst/>
          </a:prstGeom>
          <a:solidFill>
            <a:srgbClr val="282C34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ABB2BF"/>
                </a:solidFill>
                <a:latin typeface="Courier New"/>
              </a:defRPr>
            </a:pPr>
            <a:r>
              <a:t>python tests/evaluate.py --save          # 전체 평가 실행</a:t>
            </a:r>
            <a:br/>
            <a:r>
              <a:t>python rag/server.py                      # RAG API 서버 실행</a:t>
            </a:r>
            <a:br/>
            <a:r>
              <a:t>python monitor/dashboard.py --days 7      # 대시보드 확인</a:t>
            </a:r>
            <a:br/>
            <a:r>
              <a:t>python pipeline/index_supplementary.py    # 보충 데이터 인덱싱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563</Words>
  <Application>Microsoft Macintosh PowerPoint</Application>
  <PresentationFormat>와이드스크린</PresentationFormat>
  <Paragraphs>95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성광 박</cp:lastModifiedBy>
  <cp:revision>4</cp:revision>
  <dcterms:created xsi:type="dcterms:W3CDTF">2013-01-27T09:14:16Z</dcterms:created>
  <dcterms:modified xsi:type="dcterms:W3CDTF">2026-02-06T06:52:11Z</dcterms:modified>
  <cp:category/>
</cp:coreProperties>
</file>